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B90F-4640-C1C2-A6AC-01CCEFB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71632-B090-DF21-4CF5-AABC79C3E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C349A-08E6-0FEF-1943-6C697E48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EFCF-B012-3A74-5504-449D5DDF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CDD13-BC54-FC30-E31D-8CF36E7F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33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8C88-9567-5D72-2C80-B4A0C80C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6C61C-3A17-2094-DCBB-D59369AB4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D88E-A1CE-1069-BBDF-8E4C54CA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B18B-FB5F-988A-19C8-E457623B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2397A-ED2C-B621-7D3E-B7EE1A44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5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75A8-061E-E085-703D-15AA1391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B4CBB-B07E-FF95-B795-A419DEB6C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D1D4B-17E5-63C5-BA64-EBB3D8CE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88FD7-C772-B1EC-923A-950D49DE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F9DA5-DCB8-82CF-A51A-A3A11DEB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37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2703-4793-971B-9EFE-55A7A463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4139F-AF99-3686-DA19-E50A67335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DD721-BA99-580F-22CE-D2C7B8E90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9E5CD-7F4B-CA60-0799-D7F2A4B7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59471-6864-2936-36B9-640D86D2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C8DAB-30B8-6C04-BE27-BD51F3E4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6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DAF2-508E-3DE3-BFA7-2334FAB8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3749-15DC-CC8A-0E42-1822B9E9A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D8A51-A9EC-A665-A223-2F0A1BEEF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39E2D-B3D1-499A-178A-5EDCBED19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AB38F-399E-2002-133C-028BA0A6E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46388-F9B5-4346-D28C-9A43AA8C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91F131-7022-7DE7-D9E7-6F3478E7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D1DEA-8EFD-3720-0C51-3A2385CF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16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0545-82D1-7390-07F8-9B2AA530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91FD5-40FA-006E-7074-72F133A6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4A6C5-DB0F-8299-27C1-2A0A759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C3512-3C63-F405-C750-229704BD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5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CDA97-0FE9-E771-ACFE-3EA85ADF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8CCFF-13CB-6B4D-061F-AE675DA5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1800-2963-6B60-1AEF-B257C82F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48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105A-0BB6-983B-31F0-3153E8822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F4AB-DCAE-AD20-9D3A-7DB7E6709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A6B54-62CA-DB7D-0961-E8B25DB91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DE472-B37E-CFF5-DC21-B6FB8A97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E700E-DA70-A7EF-D1D6-0FDB09EF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50926-5A3B-1A17-EDB2-000600E8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36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3A16-0C9B-1869-DFD1-069EC0F3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74293-B0F4-A183-0CD0-2FE529A40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04083-3CA9-EB72-40A2-908DC8C4F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10464-E422-659B-0027-4D099AA1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AC02B-B859-0871-7BBC-0B31D5BA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2FE5E-13E6-BB60-F298-9C492840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60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DDD7-F63E-B2D7-6612-3E74BEA6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19DAA-D78C-4856-A64B-BB411442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5B7A5-5722-21F5-BDE4-EA3D31B4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54748-39E3-DC56-0505-2B999737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7767-BF15-09AC-F220-DF78C898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5C195-1B97-93F8-A03B-CA81D7A9C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A691A-82D0-300A-1641-727189FCD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71BCB-6BCF-C76D-6D08-500DDB3F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B2578-91B5-EB41-89B5-34EF230D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3B4BB-516F-C1A1-E276-AB1A2A16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28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9417-98D7-EAE8-6482-1B1C4DFC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F827C-A6D5-B7C5-AFCE-14188B64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B8B8-8554-1CD8-F60A-48F45260C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8DE1F-4FF5-490C-9C82-AC07BCCF1997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09626-ADC3-092E-DEA6-F0BB1C8F7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9121D-B3FF-159D-A967-CC4FCBB6A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2DEC8-2912-4A52-A379-5BC31C486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4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613E-C54A-C822-0943-C6CF358EB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N-bit Full Adder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82D37-9E8F-8EDD-7722-06C24FEED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and implementation of n bit full Adder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82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5231-9735-F634-0408-FCB1FAA1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81AB-8826-F038-AF37-B790095E2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N-bit adder performs addition of two N-bit binary numbers.</a:t>
            </a:r>
          </a:p>
          <a:p>
            <a:r>
              <a:rPr lang="en-US" dirty="0"/>
              <a:t>Implemented using multiple full adders connected in series (Ripple-Carry Adder).</a:t>
            </a:r>
          </a:p>
          <a:p>
            <a:r>
              <a:rPr lang="en-US" dirty="0"/>
              <a:t>Verilog generate and </a:t>
            </a:r>
            <a:r>
              <a:rPr lang="en-US" dirty="0" err="1"/>
              <a:t>genvar</a:t>
            </a:r>
            <a:r>
              <a:rPr lang="en-US" dirty="0"/>
              <a:t> allow automatic hardware replication for scalable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4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7BAB-1422-B410-23B4-E7D75061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</a:t>
            </a:r>
            <a:r>
              <a:rPr lang="en-IN" dirty="0" err="1"/>
              <a:t>genvar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2FDB5-BD84-25B8-0C6B-40335A3C4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repetitive code.</a:t>
            </a:r>
          </a:p>
          <a:p>
            <a:r>
              <a:rPr lang="en-US" dirty="0"/>
              <a:t>Easy to scale from 4-bit → 8-bit → 32-bit by changing a single parameter.</a:t>
            </a:r>
          </a:p>
          <a:p>
            <a:r>
              <a:rPr lang="en-US" dirty="0"/>
              <a:t>Ensures cleaner and modular RTL design.</a:t>
            </a:r>
          </a:p>
          <a:p>
            <a:r>
              <a:rPr lang="en-US" dirty="0"/>
              <a:t>Commonly used in </a:t>
            </a:r>
            <a:r>
              <a:rPr lang="en-US" dirty="0" err="1"/>
              <a:t>datapath</a:t>
            </a:r>
            <a:r>
              <a:rPr lang="en-US" dirty="0"/>
              <a:t> units, ALUs, and processor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16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EAF1-F7C2-FFD1-56D7-BFE12195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8413" y="95658"/>
            <a:ext cx="3412461" cy="1325563"/>
          </a:xfrm>
        </p:spPr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26AC9-BD2C-F99C-A1C5-1D85137E1FDD}"/>
              </a:ext>
            </a:extLst>
          </p:cNvPr>
          <p:cNvSpPr/>
          <p:nvPr/>
        </p:nvSpPr>
        <p:spPr>
          <a:xfrm>
            <a:off x="1613140" y="2415396"/>
            <a:ext cx="992037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Adder</a:t>
            </a:r>
          </a:p>
          <a:p>
            <a:pPr algn="ctr"/>
            <a:r>
              <a:rPr lang="en-US" dirty="0"/>
              <a:t>[0]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0CC9F-1BD6-B73F-3D9E-485C7E519B67}"/>
              </a:ext>
            </a:extLst>
          </p:cNvPr>
          <p:cNvSpPr/>
          <p:nvPr/>
        </p:nvSpPr>
        <p:spPr>
          <a:xfrm>
            <a:off x="3250721" y="2415393"/>
            <a:ext cx="992037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Adder</a:t>
            </a:r>
          </a:p>
          <a:p>
            <a:pPr algn="ctr"/>
            <a:r>
              <a:rPr lang="en-US" dirty="0"/>
              <a:t>[1]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53C22-3607-B971-5BCE-DA19616BC63F}"/>
              </a:ext>
            </a:extLst>
          </p:cNvPr>
          <p:cNvSpPr/>
          <p:nvPr/>
        </p:nvSpPr>
        <p:spPr>
          <a:xfrm>
            <a:off x="4888302" y="2415394"/>
            <a:ext cx="992037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Adder</a:t>
            </a:r>
          </a:p>
          <a:p>
            <a:pPr algn="ctr"/>
            <a:r>
              <a:rPr lang="en-US" dirty="0"/>
              <a:t>[2]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9031E-C2AC-993F-CADB-A673EF9B4940}"/>
              </a:ext>
            </a:extLst>
          </p:cNvPr>
          <p:cNvSpPr/>
          <p:nvPr/>
        </p:nvSpPr>
        <p:spPr>
          <a:xfrm>
            <a:off x="6525883" y="2415393"/>
            <a:ext cx="992037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Adder</a:t>
            </a:r>
          </a:p>
          <a:p>
            <a:pPr algn="ctr"/>
            <a:r>
              <a:rPr lang="en-US" dirty="0"/>
              <a:t>[3]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3EE65-7323-B675-32AA-027348F41C36}"/>
              </a:ext>
            </a:extLst>
          </p:cNvPr>
          <p:cNvSpPr/>
          <p:nvPr/>
        </p:nvSpPr>
        <p:spPr>
          <a:xfrm>
            <a:off x="9779485" y="2419706"/>
            <a:ext cx="992037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Adder</a:t>
            </a:r>
          </a:p>
          <a:p>
            <a:pPr algn="ctr"/>
            <a:r>
              <a:rPr lang="en-US" dirty="0"/>
              <a:t>[N-1]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9BD132-145E-AAE9-CE70-3B18EE575C90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605177" y="3078175"/>
            <a:ext cx="645544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EFBE2B-CF5B-366C-2E90-B9BA89848E5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242758" y="3078175"/>
            <a:ext cx="6455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7938ED-BD75-CA7E-940F-76AB69F43E52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880339" y="3078175"/>
            <a:ext cx="6455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2ACEDE-D7D5-69E3-B5E7-8CE3D615021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517920" y="3078175"/>
            <a:ext cx="2261565" cy="43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EB254A-3317-0111-1801-F5EE53B0F5F7}"/>
              </a:ext>
            </a:extLst>
          </p:cNvPr>
          <p:cNvCxnSpPr/>
          <p:nvPr/>
        </p:nvCxnSpPr>
        <p:spPr>
          <a:xfrm>
            <a:off x="1733909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4370CE-7307-B72E-5C9A-7F168BA77C68}"/>
              </a:ext>
            </a:extLst>
          </p:cNvPr>
          <p:cNvCxnSpPr/>
          <p:nvPr/>
        </p:nvCxnSpPr>
        <p:spPr>
          <a:xfrm>
            <a:off x="2447026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787A63-9B10-8FF2-8F09-582FBAEDF033}"/>
              </a:ext>
            </a:extLst>
          </p:cNvPr>
          <p:cNvCxnSpPr/>
          <p:nvPr/>
        </p:nvCxnSpPr>
        <p:spPr>
          <a:xfrm>
            <a:off x="3387306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9A8D5D-34F6-CFC1-A492-C6220734C4A1}"/>
              </a:ext>
            </a:extLst>
          </p:cNvPr>
          <p:cNvCxnSpPr/>
          <p:nvPr/>
        </p:nvCxnSpPr>
        <p:spPr>
          <a:xfrm>
            <a:off x="4100423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468A98-5F6D-677B-AC30-EF0218AC3386}"/>
              </a:ext>
            </a:extLst>
          </p:cNvPr>
          <p:cNvCxnSpPr/>
          <p:nvPr/>
        </p:nvCxnSpPr>
        <p:spPr>
          <a:xfrm>
            <a:off x="4991818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0A0DF8-EC0E-F1B9-DC88-EFBBD5947667}"/>
              </a:ext>
            </a:extLst>
          </p:cNvPr>
          <p:cNvCxnSpPr/>
          <p:nvPr/>
        </p:nvCxnSpPr>
        <p:spPr>
          <a:xfrm>
            <a:off x="5704935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B90D17-4DC5-E428-70E5-317904B2564A}"/>
              </a:ext>
            </a:extLst>
          </p:cNvPr>
          <p:cNvCxnSpPr/>
          <p:nvPr/>
        </p:nvCxnSpPr>
        <p:spPr>
          <a:xfrm>
            <a:off x="6622211" y="1933754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D39D8-1877-940E-6D8A-D437BC8B579C}"/>
              </a:ext>
            </a:extLst>
          </p:cNvPr>
          <p:cNvCxnSpPr/>
          <p:nvPr/>
        </p:nvCxnSpPr>
        <p:spPr>
          <a:xfrm>
            <a:off x="7335328" y="1933754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07B41B-CD6D-8699-D312-D1B09ADCFEC2}"/>
              </a:ext>
            </a:extLst>
          </p:cNvPr>
          <p:cNvCxnSpPr/>
          <p:nvPr/>
        </p:nvCxnSpPr>
        <p:spPr>
          <a:xfrm>
            <a:off x="9917502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91D2C8-8174-CC2B-C840-98F13047292A}"/>
              </a:ext>
            </a:extLst>
          </p:cNvPr>
          <p:cNvCxnSpPr/>
          <p:nvPr/>
        </p:nvCxnSpPr>
        <p:spPr>
          <a:xfrm>
            <a:off x="10630619" y="1923691"/>
            <a:ext cx="0" cy="49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9E7220-5325-FF30-02B8-059D9341BEF2}"/>
              </a:ext>
            </a:extLst>
          </p:cNvPr>
          <p:cNvCxnSpPr>
            <a:endCxn id="3" idx="1"/>
          </p:cNvCxnSpPr>
          <p:nvPr/>
        </p:nvCxnSpPr>
        <p:spPr>
          <a:xfrm>
            <a:off x="1026543" y="3078174"/>
            <a:ext cx="586597" cy="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A265FA-1CF1-A199-126C-E0C0A10D3876}"/>
              </a:ext>
            </a:extLst>
          </p:cNvPr>
          <p:cNvCxnSpPr>
            <a:stCxn id="3" idx="2"/>
          </p:cNvCxnSpPr>
          <p:nvPr/>
        </p:nvCxnSpPr>
        <p:spPr>
          <a:xfrm flipH="1">
            <a:off x="2109158" y="3740959"/>
            <a:ext cx="1" cy="460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CFE2C5-C2F7-23B0-1F58-6FE850F0E4A9}"/>
              </a:ext>
            </a:extLst>
          </p:cNvPr>
          <p:cNvCxnSpPr>
            <a:stCxn id="4" idx="2"/>
          </p:cNvCxnSpPr>
          <p:nvPr/>
        </p:nvCxnSpPr>
        <p:spPr>
          <a:xfrm flipH="1">
            <a:off x="3746739" y="3740956"/>
            <a:ext cx="1" cy="46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E8BD09-E8E9-47F8-94C6-8B2B943DA0A2}"/>
              </a:ext>
            </a:extLst>
          </p:cNvPr>
          <p:cNvCxnSpPr>
            <a:stCxn id="5" idx="2"/>
          </p:cNvCxnSpPr>
          <p:nvPr/>
        </p:nvCxnSpPr>
        <p:spPr>
          <a:xfrm flipH="1">
            <a:off x="5384320" y="3740957"/>
            <a:ext cx="1" cy="460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576571-C5FD-EE17-2B87-5A0CC32A21D6}"/>
              </a:ext>
            </a:extLst>
          </p:cNvPr>
          <p:cNvCxnSpPr>
            <a:stCxn id="6" idx="2"/>
          </p:cNvCxnSpPr>
          <p:nvPr/>
        </p:nvCxnSpPr>
        <p:spPr>
          <a:xfrm flipH="1">
            <a:off x="7021901" y="3740956"/>
            <a:ext cx="1" cy="46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F9025E-BC95-B7FA-5C5C-8AC4521DA732}"/>
              </a:ext>
            </a:extLst>
          </p:cNvPr>
          <p:cNvCxnSpPr>
            <a:stCxn id="7" idx="2"/>
          </p:cNvCxnSpPr>
          <p:nvPr/>
        </p:nvCxnSpPr>
        <p:spPr>
          <a:xfrm flipH="1">
            <a:off x="10275503" y="3745269"/>
            <a:ext cx="1" cy="455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99C204-AE52-62C6-7FD5-95BB4F6364E9}"/>
              </a:ext>
            </a:extLst>
          </p:cNvPr>
          <p:cNvCxnSpPr>
            <a:stCxn id="7" idx="3"/>
          </p:cNvCxnSpPr>
          <p:nvPr/>
        </p:nvCxnSpPr>
        <p:spPr>
          <a:xfrm flipV="1">
            <a:off x="10771522" y="3078174"/>
            <a:ext cx="582278" cy="4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AB4340-9800-42CF-FDB1-A5C608E01479}"/>
              </a:ext>
            </a:extLst>
          </p:cNvPr>
          <p:cNvSpPr txBox="1"/>
          <p:nvPr/>
        </p:nvSpPr>
        <p:spPr>
          <a:xfrm>
            <a:off x="1463625" y="1585959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A[0]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153523-C2C5-9238-415A-7B7A03AF05E3}"/>
              </a:ext>
            </a:extLst>
          </p:cNvPr>
          <p:cNvSpPr txBox="1"/>
          <p:nvPr/>
        </p:nvSpPr>
        <p:spPr>
          <a:xfrm>
            <a:off x="3068137" y="1585959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A[1]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15F145-0019-8CE1-C321-60C0CD1685E7}"/>
              </a:ext>
            </a:extLst>
          </p:cNvPr>
          <p:cNvSpPr txBox="1"/>
          <p:nvPr/>
        </p:nvSpPr>
        <p:spPr>
          <a:xfrm>
            <a:off x="4694215" y="1585955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A[2]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1AAD77-B8BD-27B5-0141-5BD3BA32F78A}"/>
              </a:ext>
            </a:extLst>
          </p:cNvPr>
          <p:cNvSpPr txBox="1"/>
          <p:nvPr/>
        </p:nvSpPr>
        <p:spPr>
          <a:xfrm>
            <a:off x="2140108" y="1591068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B[0]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DADBC8-4071-EC4A-A180-B246CBF58A22}"/>
              </a:ext>
            </a:extLst>
          </p:cNvPr>
          <p:cNvSpPr txBox="1"/>
          <p:nvPr/>
        </p:nvSpPr>
        <p:spPr>
          <a:xfrm>
            <a:off x="3801383" y="1585955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B[1]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491B77-A41C-9CF7-3239-CCA0CACF762D}"/>
              </a:ext>
            </a:extLst>
          </p:cNvPr>
          <p:cNvSpPr txBox="1"/>
          <p:nvPr/>
        </p:nvSpPr>
        <p:spPr>
          <a:xfrm>
            <a:off x="5412373" y="1592521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B[2]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731841-E77A-590A-2982-BB5C9B8390F5}"/>
              </a:ext>
            </a:extLst>
          </p:cNvPr>
          <p:cNvSpPr txBox="1"/>
          <p:nvPr/>
        </p:nvSpPr>
        <p:spPr>
          <a:xfrm>
            <a:off x="6301631" y="1592521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A[3]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7F455F-4E99-6465-7B80-E1D672240B9A}"/>
              </a:ext>
            </a:extLst>
          </p:cNvPr>
          <p:cNvSpPr txBox="1"/>
          <p:nvPr/>
        </p:nvSpPr>
        <p:spPr>
          <a:xfrm>
            <a:off x="7042765" y="1585953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B[3]</a:t>
            </a:r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3F09CB-A5EB-03E0-A585-E1035D78FCA5}"/>
              </a:ext>
            </a:extLst>
          </p:cNvPr>
          <p:cNvSpPr txBox="1"/>
          <p:nvPr/>
        </p:nvSpPr>
        <p:spPr>
          <a:xfrm>
            <a:off x="9387001" y="1534317"/>
            <a:ext cx="82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A[N-1]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012BEB-64B9-39AC-77A5-B63B7CABDCBD}"/>
              </a:ext>
            </a:extLst>
          </p:cNvPr>
          <p:cNvSpPr txBox="1"/>
          <p:nvPr/>
        </p:nvSpPr>
        <p:spPr>
          <a:xfrm>
            <a:off x="10367511" y="1534317"/>
            <a:ext cx="90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B[N-1]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C27EC9-A4E7-358E-BCD0-46DB224505C4}"/>
              </a:ext>
            </a:extLst>
          </p:cNvPr>
          <p:cNvSpPr txBox="1"/>
          <p:nvPr/>
        </p:nvSpPr>
        <p:spPr>
          <a:xfrm>
            <a:off x="1815869" y="4281001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S[0]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551205-54E3-A17C-B74E-E45C95F9B4EA}"/>
              </a:ext>
            </a:extLst>
          </p:cNvPr>
          <p:cNvSpPr txBox="1"/>
          <p:nvPr/>
        </p:nvSpPr>
        <p:spPr>
          <a:xfrm>
            <a:off x="3483641" y="4343533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S[1]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BE8984-1998-9A2A-A054-163352C961B7}"/>
              </a:ext>
            </a:extLst>
          </p:cNvPr>
          <p:cNvSpPr txBox="1"/>
          <p:nvPr/>
        </p:nvSpPr>
        <p:spPr>
          <a:xfrm>
            <a:off x="5151413" y="4343533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S[2]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272B84-9CAB-187E-5140-8981D9918E86}"/>
              </a:ext>
            </a:extLst>
          </p:cNvPr>
          <p:cNvSpPr txBox="1"/>
          <p:nvPr/>
        </p:nvSpPr>
        <p:spPr>
          <a:xfrm>
            <a:off x="6728612" y="4343533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S[3]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1FFC11-0233-DA4C-0680-704E03B23DAA}"/>
              </a:ext>
            </a:extLst>
          </p:cNvPr>
          <p:cNvSpPr txBox="1"/>
          <p:nvPr/>
        </p:nvSpPr>
        <p:spPr>
          <a:xfrm>
            <a:off x="9901706" y="4343533"/>
            <a:ext cx="86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S[N-1]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94B1D2-1C0D-EF31-A3D3-ED12CB5EA436}"/>
              </a:ext>
            </a:extLst>
          </p:cNvPr>
          <p:cNvSpPr txBox="1"/>
          <p:nvPr/>
        </p:nvSpPr>
        <p:spPr>
          <a:xfrm>
            <a:off x="2595861" y="2726856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C[0]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92B8A4-E649-217B-D17B-4038E2A35D5C}"/>
              </a:ext>
            </a:extLst>
          </p:cNvPr>
          <p:cNvSpPr txBox="1"/>
          <p:nvPr/>
        </p:nvSpPr>
        <p:spPr>
          <a:xfrm>
            <a:off x="4250661" y="2737809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C[1]</a:t>
            </a:r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F60221-6F87-A100-998C-36EEE8244BA5}"/>
              </a:ext>
            </a:extLst>
          </p:cNvPr>
          <p:cNvSpPr txBox="1"/>
          <p:nvPr/>
        </p:nvSpPr>
        <p:spPr>
          <a:xfrm>
            <a:off x="5898323" y="2733418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C[2]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49EA80-6166-2BCD-2674-288A0F6F99EB}"/>
              </a:ext>
            </a:extLst>
          </p:cNvPr>
          <p:cNvSpPr txBox="1"/>
          <p:nvPr/>
        </p:nvSpPr>
        <p:spPr>
          <a:xfrm>
            <a:off x="7530874" y="2719795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C[3]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89ABB6-4E32-0258-7055-3AF06CFA0DC8}"/>
              </a:ext>
            </a:extLst>
          </p:cNvPr>
          <p:cNvSpPr txBox="1"/>
          <p:nvPr/>
        </p:nvSpPr>
        <p:spPr>
          <a:xfrm>
            <a:off x="8975106" y="2719795"/>
            <a:ext cx="82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C[N-1]</a:t>
            </a:r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DCC694-A3CF-2E26-8528-7CC43E9096A8}"/>
              </a:ext>
            </a:extLst>
          </p:cNvPr>
          <p:cNvSpPr txBox="1"/>
          <p:nvPr/>
        </p:nvSpPr>
        <p:spPr>
          <a:xfrm>
            <a:off x="488835" y="2893508"/>
            <a:ext cx="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24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5A84-A79A-0223-EEAC-5F42E270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489"/>
            <a:ext cx="10515600" cy="1058233"/>
          </a:xfrm>
        </p:spPr>
        <p:txBody>
          <a:bodyPr/>
          <a:lstStyle/>
          <a:p>
            <a:pPr algn="ctr"/>
            <a:r>
              <a:rPr lang="en-IN" dirty="0"/>
              <a:t>Verilog code for n bit adder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21718-5A09-13AD-3BCF-39BB14865E2E}"/>
              </a:ext>
            </a:extLst>
          </p:cNvPr>
          <p:cNvSpPr txBox="1"/>
          <p:nvPr/>
        </p:nvSpPr>
        <p:spPr>
          <a:xfrm>
            <a:off x="940280" y="2777705"/>
            <a:ext cx="3614468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module </a:t>
            </a:r>
            <a:r>
              <a:rPr lang="en-IN" dirty="0" err="1"/>
              <a:t>fulladder</a:t>
            </a:r>
            <a:r>
              <a:rPr lang="en-IN" dirty="0"/>
              <a:t>(</a:t>
            </a:r>
            <a:r>
              <a:rPr lang="en-IN" dirty="0" err="1"/>
              <a:t>sum,cout,a,b,c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a,b,c</a:t>
            </a:r>
            <a:r>
              <a:rPr lang="en-IN" dirty="0"/>
              <a:t>;</a:t>
            </a:r>
          </a:p>
          <a:p>
            <a:r>
              <a:rPr lang="en-IN" dirty="0"/>
              <a:t>output </a:t>
            </a:r>
            <a:r>
              <a:rPr lang="en-IN" dirty="0" err="1"/>
              <a:t>sum,cout</a:t>
            </a:r>
            <a:r>
              <a:rPr lang="en-IN" dirty="0"/>
              <a:t>;</a:t>
            </a:r>
          </a:p>
          <a:p>
            <a:r>
              <a:rPr lang="en-IN" dirty="0"/>
              <a:t>assign sum=</a:t>
            </a:r>
            <a:r>
              <a:rPr lang="en-IN" dirty="0" err="1"/>
              <a:t>a^b^c</a:t>
            </a:r>
            <a:r>
              <a:rPr lang="en-IN" dirty="0"/>
              <a:t>;</a:t>
            </a:r>
          </a:p>
          <a:p>
            <a:r>
              <a:rPr lang="en-IN" dirty="0"/>
              <a:t>assign </a:t>
            </a:r>
            <a:r>
              <a:rPr lang="en-IN" dirty="0" err="1"/>
              <a:t>cout</a:t>
            </a:r>
            <a:r>
              <a:rPr lang="en-IN" dirty="0"/>
              <a:t>=(</a:t>
            </a:r>
            <a:r>
              <a:rPr lang="en-IN" dirty="0" err="1"/>
              <a:t>a&amp;b</a:t>
            </a:r>
            <a:r>
              <a:rPr lang="en-IN" dirty="0"/>
              <a:t>)|((</a:t>
            </a:r>
            <a:r>
              <a:rPr lang="en-IN" dirty="0" err="1"/>
              <a:t>a^b</a:t>
            </a:r>
            <a:r>
              <a:rPr lang="en-IN" dirty="0"/>
              <a:t>)&amp;c);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3B0E2-2D63-B352-5AB4-AA89F1EE029D}"/>
              </a:ext>
            </a:extLst>
          </p:cNvPr>
          <p:cNvSpPr txBox="1"/>
          <p:nvPr/>
        </p:nvSpPr>
        <p:spPr>
          <a:xfrm>
            <a:off x="5572664" y="1691561"/>
            <a:ext cx="6116129" cy="4801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module </a:t>
            </a:r>
            <a:r>
              <a:rPr lang="en-IN" dirty="0" err="1"/>
              <a:t>n_bitadder</a:t>
            </a:r>
            <a:r>
              <a:rPr lang="en-IN" dirty="0"/>
              <a:t> #(parameter N=4)(</a:t>
            </a:r>
            <a:r>
              <a:rPr lang="en-IN" dirty="0" err="1"/>
              <a:t>sum,cout,a,b,cin</a:t>
            </a:r>
            <a:r>
              <a:rPr lang="en-IN" dirty="0"/>
              <a:t>);</a:t>
            </a:r>
          </a:p>
          <a:p>
            <a:r>
              <a:rPr lang="en-IN" dirty="0"/>
              <a:t>  input [N-1:0] </a:t>
            </a:r>
            <a:r>
              <a:rPr lang="en-IN" dirty="0" err="1"/>
              <a:t>a,b</a:t>
            </a:r>
            <a:r>
              <a:rPr lang="en-IN" dirty="0"/>
              <a:t>;</a:t>
            </a:r>
          </a:p>
          <a:p>
            <a:r>
              <a:rPr lang="en-IN" dirty="0"/>
              <a:t>  input </a:t>
            </a:r>
            <a:r>
              <a:rPr lang="en-IN" dirty="0" err="1"/>
              <a:t>cin</a:t>
            </a:r>
            <a:r>
              <a:rPr lang="en-IN" dirty="0"/>
              <a:t>;</a:t>
            </a:r>
          </a:p>
          <a:p>
            <a:r>
              <a:rPr lang="en-IN" dirty="0"/>
              <a:t>  output [N-1:0] sum;</a:t>
            </a:r>
          </a:p>
          <a:p>
            <a:r>
              <a:rPr lang="en-IN" dirty="0"/>
              <a:t>  output </a:t>
            </a:r>
            <a:r>
              <a:rPr lang="en-IN" dirty="0" err="1"/>
              <a:t>cout</a:t>
            </a:r>
            <a:r>
              <a:rPr lang="en-IN" dirty="0"/>
              <a:t>;</a:t>
            </a:r>
          </a:p>
          <a:p>
            <a:r>
              <a:rPr lang="en-IN" dirty="0"/>
              <a:t>  wire [N-1:0]c;</a:t>
            </a:r>
          </a:p>
          <a:p>
            <a:r>
              <a:rPr lang="en-IN" dirty="0"/>
              <a:t>     assign c[0]=</a:t>
            </a:r>
            <a:r>
              <a:rPr lang="en-IN" dirty="0" err="1"/>
              <a:t>cin</a:t>
            </a:r>
            <a:r>
              <a:rPr lang="en-IN" dirty="0"/>
              <a:t>;</a:t>
            </a:r>
          </a:p>
          <a:p>
            <a:r>
              <a:rPr lang="en-IN" dirty="0"/>
              <a:t>	</a:t>
            </a:r>
            <a:r>
              <a:rPr lang="en-IN" dirty="0" err="1"/>
              <a:t>genvar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                  generate </a:t>
            </a:r>
          </a:p>
          <a:p>
            <a:r>
              <a:rPr lang="en-IN" dirty="0"/>
              <a:t>                             for(</a:t>
            </a:r>
            <a:r>
              <a:rPr lang="en-IN" dirty="0" err="1"/>
              <a:t>i</a:t>
            </a:r>
            <a:r>
              <a:rPr lang="en-IN" dirty="0"/>
              <a:t>=0;i&lt;</a:t>
            </a:r>
            <a:r>
              <a:rPr lang="en-IN" dirty="0" err="1"/>
              <a:t>N;i</a:t>
            </a:r>
            <a:r>
              <a:rPr lang="en-IN" dirty="0"/>
              <a:t>=i+1) begin</a:t>
            </a:r>
          </a:p>
          <a:p>
            <a:r>
              <a:rPr lang="en-IN" dirty="0"/>
              <a:t>	 </a:t>
            </a:r>
            <a:r>
              <a:rPr lang="en-IN" dirty="0" err="1"/>
              <a:t>fulladder</a:t>
            </a:r>
            <a:r>
              <a:rPr lang="en-IN" dirty="0"/>
              <a:t> fa(sum[</a:t>
            </a:r>
            <a:r>
              <a:rPr lang="en-IN" dirty="0" err="1"/>
              <a:t>i</a:t>
            </a:r>
            <a:r>
              <a:rPr lang="en-IN" dirty="0"/>
              <a:t>],c[i+1],a[</a:t>
            </a:r>
            <a:r>
              <a:rPr lang="en-IN" dirty="0" err="1"/>
              <a:t>i</a:t>
            </a:r>
            <a:r>
              <a:rPr lang="en-IN" dirty="0"/>
              <a:t>],b[</a:t>
            </a:r>
            <a:r>
              <a:rPr lang="en-IN" dirty="0" err="1"/>
              <a:t>i</a:t>
            </a:r>
            <a:r>
              <a:rPr lang="en-IN" dirty="0"/>
              <a:t>],c[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r>
              <a:rPr lang="en-IN" dirty="0"/>
              <a:t>	           end</a:t>
            </a:r>
          </a:p>
          <a:p>
            <a:r>
              <a:rPr lang="en-IN" dirty="0"/>
              <a:t>	</a:t>
            </a:r>
            <a:r>
              <a:rPr lang="en-IN" dirty="0" err="1"/>
              <a:t>endgenerate</a:t>
            </a:r>
            <a:endParaRPr lang="en-IN" dirty="0"/>
          </a:p>
          <a:p>
            <a:r>
              <a:rPr lang="en-IN" dirty="0"/>
              <a:t> 	assign </a:t>
            </a:r>
            <a:r>
              <a:rPr lang="en-IN" dirty="0" err="1"/>
              <a:t>cout</a:t>
            </a:r>
            <a:r>
              <a:rPr lang="en-IN" dirty="0"/>
              <a:t>=c[N];</a:t>
            </a:r>
          </a:p>
          <a:p>
            <a:r>
              <a:rPr lang="en-IN" dirty="0"/>
              <a:t> </a:t>
            </a:r>
            <a:r>
              <a:rPr lang="en-IN" dirty="0" err="1"/>
              <a:t>endmodule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8614A-4446-8527-7CD8-3F7614CB40B2}"/>
              </a:ext>
            </a:extLst>
          </p:cNvPr>
          <p:cNvSpPr txBox="1"/>
          <p:nvPr/>
        </p:nvSpPr>
        <p:spPr>
          <a:xfrm>
            <a:off x="940280" y="2889849"/>
            <a:ext cx="1645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Full Adder: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5D89E-AF70-EE14-A33B-B70B45359501}"/>
              </a:ext>
            </a:extLst>
          </p:cNvPr>
          <p:cNvSpPr txBox="1"/>
          <p:nvPr/>
        </p:nvSpPr>
        <p:spPr>
          <a:xfrm>
            <a:off x="5572664" y="1850910"/>
            <a:ext cx="2303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</a:rPr>
              <a:t>N_bit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 Full Adder:</a:t>
            </a:r>
          </a:p>
        </p:txBody>
      </p:sp>
    </p:spTree>
    <p:extLst>
      <p:ext uri="{BB962C8B-B14F-4D97-AF65-F5344CB8AC3E}">
        <p14:creationId xmlns:p14="http://schemas.microsoft.com/office/powerpoint/2010/main" val="171876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AF4416-63C9-3510-6FC0-F8B5EB504DBD}"/>
              </a:ext>
            </a:extLst>
          </p:cNvPr>
          <p:cNvSpPr/>
          <p:nvPr/>
        </p:nvSpPr>
        <p:spPr>
          <a:xfrm>
            <a:off x="350088" y="1768415"/>
            <a:ext cx="11623376" cy="47244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00859-9A37-4903-A72B-0EC812A7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Testbench for N bit Adder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35E3B-5362-583B-2859-07A23EA7F6FF}"/>
              </a:ext>
            </a:extLst>
          </p:cNvPr>
          <p:cNvSpPr txBox="1"/>
          <p:nvPr/>
        </p:nvSpPr>
        <p:spPr>
          <a:xfrm>
            <a:off x="1035171" y="2708109"/>
            <a:ext cx="3735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`include "</a:t>
            </a:r>
            <a:r>
              <a:rPr lang="en-IN" dirty="0" err="1"/>
              <a:t>n_bitadder.v</a:t>
            </a:r>
            <a:r>
              <a:rPr lang="en-IN" dirty="0"/>
              <a:t>"</a:t>
            </a:r>
          </a:p>
          <a:p>
            <a:r>
              <a:rPr lang="en-IN" dirty="0"/>
              <a:t>module top;</a:t>
            </a:r>
          </a:p>
          <a:p>
            <a:r>
              <a:rPr lang="en-IN" dirty="0"/>
              <a:t>parameter N=4;</a:t>
            </a:r>
          </a:p>
          <a:p>
            <a:r>
              <a:rPr lang="en-IN" dirty="0"/>
              <a:t>reg [N-1:0]</a:t>
            </a:r>
            <a:r>
              <a:rPr lang="en-IN" dirty="0" err="1"/>
              <a:t>a,b</a:t>
            </a:r>
            <a:r>
              <a:rPr lang="en-IN" dirty="0"/>
              <a:t>;</a:t>
            </a:r>
          </a:p>
          <a:p>
            <a:r>
              <a:rPr lang="en-IN" dirty="0"/>
              <a:t>reg </a:t>
            </a:r>
            <a:r>
              <a:rPr lang="en-IN" dirty="0" err="1"/>
              <a:t>cin</a:t>
            </a:r>
            <a:r>
              <a:rPr lang="en-IN" dirty="0"/>
              <a:t>;</a:t>
            </a:r>
          </a:p>
          <a:p>
            <a:r>
              <a:rPr lang="en-IN" dirty="0"/>
              <a:t>wire [N-1:0] </a:t>
            </a:r>
            <a:r>
              <a:rPr lang="en-IN" dirty="0" err="1"/>
              <a:t>sum,c</a:t>
            </a:r>
            <a:r>
              <a:rPr lang="en-IN" dirty="0"/>
              <a:t>;</a:t>
            </a:r>
          </a:p>
          <a:p>
            <a:r>
              <a:rPr lang="en-IN" dirty="0"/>
              <a:t>wire </a:t>
            </a:r>
            <a:r>
              <a:rPr lang="en-IN" dirty="0" err="1"/>
              <a:t>cout</a:t>
            </a:r>
            <a:r>
              <a:rPr lang="en-IN" dirty="0"/>
              <a:t>;</a:t>
            </a:r>
          </a:p>
          <a:p>
            <a:r>
              <a:rPr lang="en-IN" dirty="0" err="1"/>
              <a:t>n_bitadder</a:t>
            </a:r>
            <a:r>
              <a:rPr lang="en-IN" dirty="0"/>
              <a:t> </a:t>
            </a:r>
            <a:r>
              <a:rPr lang="en-IN" dirty="0" err="1"/>
              <a:t>nadd</a:t>
            </a:r>
            <a:r>
              <a:rPr lang="en-IN" dirty="0"/>
              <a:t> (</a:t>
            </a:r>
            <a:r>
              <a:rPr lang="en-IN" dirty="0" err="1"/>
              <a:t>sum,cout,a,b,cin</a:t>
            </a:r>
            <a:r>
              <a:rPr lang="en-IN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36683-151F-1448-C5C3-1D7DA841C7D7}"/>
              </a:ext>
            </a:extLst>
          </p:cNvPr>
          <p:cNvSpPr txBox="1"/>
          <p:nvPr/>
        </p:nvSpPr>
        <p:spPr>
          <a:xfrm>
            <a:off x="5747350" y="2708109"/>
            <a:ext cx="60945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initial begin</a:t>
            </a:r>
          </a:p>
          <a:p>
            <a:r>
              <a:rPr lang="en-IN" dirty="0"/>
              <a:t>repeat(10)begin</a:t>
            </a:r>
          </a:p>
          <a:p>
            <a:r>
              <a:rPr lang="en-IN" dirty="0"/>
              <a:t>a=$random();</a:t>
            </a:r>
          </a:p>
          <a:p>
            <a:r>
              <a:rPr lang="en-IN" dirty="0"/>
              <a:t>b=$random();</a:t>
            </a:r>
          </a:p>
          <a:p>
            <a:r>
              <a:rPr lang="en-IN" dirty="0" err="1"/>
              <a:t>cin</a:t>
            </a:r>
            <a:r>
              <a:rPr lang="en-IN" dirty="0"/>
              <a:t>=$random();</a:t>
            </a:r>
          </a:p>
          <a:p>
            <a:r>
              <a:rPr lang="en-IN" dirty="0"/>
              <a:t>#10;</a:t>
            </a:r>
          </a:p>
          <a:p>
            <a:r>
              <a:rPr lang="en-IN" dirty="0"/>
              <a:t>$monitor ("time=%0t| a-&gt; %</a:t>
            </a:r>
            <a:r>
              <a:rPr lang="en-IN" dirty="0" err="1"/>
              <a:t>b,b</a:t>
            </a:r>
            <a:r>
              <a:rPr lang="en-IN" dirty="0"/>
              <a:t>-&gt; %</a:t>
            </a:r>
            <a:r>
              <a:rPr lang="en-IN" dirty="0" err="1"/>
              <a:t>b,cin</a:t>
            </a:r>
            <a:r>
              <a:rPr lang="en-IN" dirty="0"/>
              <a:t>-&gt;%b | sum-&gt;%b ,</a:t>
            </a:r>
            <a:r>
              <a:rPr lang="en-IN" dirty="0" err="1"/>
              <a:t>cout</a:t>
            </a:r>
            <a:r>
              <a:rPr lang="en-IN" dirty="0"/>
              <a:t>-&gt; %b|",$</a:t>
            </a:r>
            <a:r>
              <a:rPr lang="en-IN" dirty="0" err="1"/>
              <a:t>time,a,b,cin,sum,cout</a:t>
            </a:r>
            <a:r>
              <a:rPr lang="en-IN" dirty="0"/>
              <a:t>);</a:t>
            </a:r>
          </a:p>
          <a:p>
            <a:r>
              <a:rPr lang="en-IN" dirty="0"/>
              <a:t>end</a:t>
            </a:r>
          </a:p>
          <a:p>
            <a:r>
              <a:rPr lang="en-IN" dirty="0"/>
              <a:t>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07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E6F2-8663-0A55-04DC-1E5AF7C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21A1D-CD2E-00A7-0629-0A09D4680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full adder computes:</a:t>
            </a:r>
            <a:br>
              <a:rPr lang="en-US" dirty="0"/>
            </a:br>
            <a:r>
              <a:rPr lang="en-US" b="1" dirty="0"/>
              <a:t>sum[</a:t>
            </a:r>
            <a:r>
              <a:rPr lang="en-US" b="1" dirty="0" err="1"/>
              <a:t>i</a:t>
            </a:r>
            <a:r>
              <a:rPr lang="en-US" b="1" dirty="0"/>
              <a:t>] = A[</a:t>
            </a:r>
            <a:r>
              <a:rPr lang="en-US" b="1" dirty="0" err="1"/>
              <a:t>i</a:t>
            </a:r>
            <a:r>
              <a:rPr lang="en-US" b="1" dirty="0"/>
              <a:t>] ⊕ B[</a:t>
            </a:r>
            <a:r>
              <a:rPr lang="en-US" b="1" dirty="0" err="1"/>
              <a:t>i</a:t>
            </a:r>
            <a:r>
              <a:rPr lang="en-US" b="1" dirty="0"/>
              <a:t>] ⊕ </a:t>
            </a:r>
            <a:r>
              <a:rPr lang="en-US" b="1" dirty="0" err="1"/>
              <a:t>carry_in</a:t>
            </a:r>
            <a:endParaRPr lang="en-US" dirty="0"/>
          </a:p>
          <a:p>
            <a:r>
              <a:rPr lang="en-US" dirty="0"/>
              <a:t>Carry propagates to the next stage:</a:t>
            </a:r>
            <a:br>
              <a:rPr lang="en-US" dirty="0"/>
            </a:br>
            <a:r>
              <a:rPr lang="en-US" b="1" dirty="0" err="1"/>
              <a:t>carry_out</a:t>
            </a:r>
            <a:r>
              <a:rPr lang="en-US" b="1" dirty="0"/>
              <a:t> → next </a:t>
            </a:r>
            <a:r>
              <a:rPr lang="en-US" b="1" dirty="0" err="1"/>
              <a:t>carry_in</a:t>
            </a:r>
            <a:endParaRPr lang="en-US" dirty="0"/>
          </a:p>
          <a:p>
            <a:r>
              <a:rPr lang="en-US" dirty="0"/>
              <a:t>Final carry-out is </a:t>
            </a:r>
            <a:r>
              <a:rPr lang="en-US" b="1" dirty="0" err="1"/>
              <a:t>cout</a:t>
            </a:r>
            <a:r>
              <a:rPr lang="en-US" dirty="0"/>
              <a:t>.</a:t>
            </a:r>
          </a:p>
          <a:p>
            <a:r>
              <a:rPr lang="en-US" dirty="0"/>
              <a:t>Delay increases with number of bits (Ripple effect).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75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8EE5-C998-4967-177B-71F17EC0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B88DC67-8DD1-4662-EADD-982D2A709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138" y="1905801"/>
            <a:ext cx="9499121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Parameterized hardware (N can be any size).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Reusable and scalable design.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Synthesizable for FPGA/ASIC.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datapath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blocks in CPUs.</a:t>
            </a:r>
          </a:p>
        </p:txBody>
      </p:sp>
    </p:spTree>
    <p:extLst>
      <p:ext uri="{BB962C8B-B14F-4D97-AF65-F5344CB8AC3E}">
        <p14:creationId xmlns:p14="http://schemas.microsoft.com/office/powerpoint/2010/main" val="355647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97B8-97C0-F3B3-8900-E53D7AA3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54DC37-5E27-9589-48DC-D3DA37AED4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4306" y="2038147"/>
            <a:ext cx="5902000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Microprocessor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datapaths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processing units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circuits in FPGA designs</a:t>
            </a:r>
          </a:p>
        </p:txBody>
      </p:sp>
    </p:spTree>
    <p:extLst>
      <p:ext uri="{BB962C8B-B14F-4D97-AF65-F5344CB8AC3E}">
        <p14:creationId xmlns:p14="http://schemas.microsoft.com/office/powerpoint/2010/main" val="945187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98A2C9-16D0-AA42-BE47-61F3D350DCDE}"/>
              </a:ext>
            </a:extLst>
          </p:cNvPr>
          <p:cNvSpPr/>
          <p:nvPr/>
        </p:nvSpPr>
        <p:spPr>
          <a:xfrm>
            <a:off x="2596551" y="1808578"/>
            <a:ext cx="649194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DA4E5-59F4-9669-95A2-6ADC92BEDC58}"/>
              </a:ext>
            </a:extLst>
          </p:cNvPr>
          <p:cNvSpPr txBox="1"/>
          <p:nvPr/>
        </p:nvSpPr>
        <p:spPr>
          <a:xfrm>
            <a:off x="8272733" y="5365630"/>
            <a:ext cx="366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</a:t>
            </a:r>
          </a:p>
          <a:p>
            <a:r>
              <a:rPr lang="en-IN" dirty="0"/>
              <a:t>Mr. AKASH K</a:t>
            </a:r>
          </a:p>
        </p:txBody>
      </p:sp>
    </p:spTree>
    <p:extLst>
      <p:ext uri="{BB962C8B-B14F-4D97-AF65-F5344CB8AC3E}">
        <p14:creationId xmlns:p14="http://schemas.microsoft.com/office/powerpoint/2010/main" val="351325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620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N-bit Full Adder</vt:lpstr>
      <vt:lpstr>Introduction</vt:lpstr>
      <vt:lpstr>Why use genvar?</vt:lpstr>
      <vt:lpstr>Block Diagram</vt:lpstr>
      <vt:lpstr>Verilog code for n bit adder module</vt:lpstr>
      <vt:lpstr>Testbench for N bit Adder</vt:lpstr>
      <vt:lpstr>Working Principle</vt:lpstr>
      <vt:lpstr>Features:</vt:lpstr>
      <vt:lpstr>Applications: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</dc:creator>
  <cp:lastModifiedBy>Akash K</cp:lastModifiedBy>
  <cp:revision>1</cp:revision>
  <dcterms:created xsi:type="dcterms:W3CDTF">2025-11-18T09:04:30Z</dcterms:created>
  <dcterms:modified xsi:type="dcterms:W3CDTF">2025-11-18T10:03:55Z</dcterms:modified>
</cp:coreProperties>
</file>